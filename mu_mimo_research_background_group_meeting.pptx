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8768" bIns="487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F172A"/>
                </a:solidFill>
                <a:latin typeface="Microsoft YaHe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研究背景：大规模 MU-MIMO 检测的性能-复杂度瓶颈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64592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YaHei"/>
              </a:rPr>
              <a:t>组会汇报 |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13232"/>
            <a:ext cx="11338560" cy="594360"/>
          </a:xfrm>
          <a:prstGeom prst="roundRect">
            <a:avLst/>
          </a:prstGeom>
          <a:solidFill>
            <a:srgbClr val="EA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153"/>
                </a:solidFill>
                <a:latin typeface="Microsoft YaHei"/>
              </a:rPr>
              <a:t>核心问题：随着用户数增加，MUI 与病态信道共同放大检测难度，系统亟需在“低复杂度”与“高可靠检测”之间取得可实现的平衡。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3657600" cy="3246120"/>
          </a:xfrm>
          <a:prstGeom prst="roundRect">
            <a:avLst/>
          </a:prstGeom>
          <a:solidFill>
            <a:srgbClr val="EA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/>
            <a:r>
              <a:rPr sz="1900" b="1">
                <a:solidFill>
                  <a:srgbClr val="2563EB"/>
                </a:solidFill>
                <a:latin typeface="Microsoft YaHei"/>
              </a:rPr>
              <a:t>1) 场景挑战：系统规模上升后检测更难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450" b="0">
                <a:solidFill>
                  <a:srgbClr val="0F172A"/>
                </a:solidFill>
                <a:latin typeface="Microsoft YaHei"/>
              </a:rPr>
              <a:t>5G/6G 追求更高频谱效率与容量，MU-MIMO 成为关键支撑技术。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450" b="0">
                <a:solidFill>
                  <a:srgbClr val="0F172A"/>
                </a:solidFill>
                <a:latin typeface="Microsoft YaHei"/>
              </a:rPr>
              <a:t>基站服务用户数增加后，多用户干扰（MUI）显著增强。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450" b="0">
                <a:solidFill>
                  <a:srgbClr val="0F172A"/>
                </a:solidFill>
                <a:latin typeface="Microsoft YaHei"/>
              </a:rPr>
              <a:t>信道矩阵病态或高度相关时，线性分离能力下降，误检更易累积。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450" b="0">
                <a:solidFill>
                  <a:srgbClr val="0F172A"/>
                </a:solidFill>
                <a:latin typeface="Microsoft YaHei"/>
              </a:rPr>
              <a:t>接收端检测因此成为制约链路可靠性的核心瓶颈。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0248" y="1508760"/>
            <a:ext cx="3675887" cy="3246120"/>
          </a:xfrm>
          <a:prstGeom prst="roundRect">
            <a:avLst/>
          </a:prstGeom>
          <a:solidFill>
            <a:srgbClr val="FFF2E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/>
            <a:r>
              <a:rPr sz="1900" b="1">
                <a:solidFill>
                  <a:srgbClr val="EA580C"/>
                </a:solidFill>
                <a:latin typeface="Microsoft YaHei"/>
              </a:rPr>
              <a:t>2) 传统检测方法：两端都不理想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450" b="0">
                <a:solidFill>
                  <a:srgbClr val="0F172A"/>
                </a:solidFill>
                <a:latin typeface="Microsoft YaHei"/>
              </a:rPr>
              <a:t>MMSE 等线性检测复杂度较低，工程实现友好。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450" b="0">
                <a:solidFill>
                  <a:srgbClr val="0F172A"/>
                </a:solidFill>
                <a:latin typeface="Microsoft YaHei"/>
              </a:rPr>
              <a:t>但在强干扰、高相关信道下性能明显退化。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450" b="0">
                <a:solidFill>
                  <a:srgbClr val="0F172A"/>
                </a:solidFill>
                <a:latin typeface="Microsoft YaHei"/>
              </a:rPr>
              <a:t>MAP 检测理论上最优，可最小化符号错误率。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450" b="0">
                <a:solidFill>
                  <a:srgbClr val="0F172A"/>
                </a:solidFill>
                <a:latin typeface="Microsoft YaHei"/>
              </a:rPr>
              <a:t>其复杂度随维度指数增长，难以直接用于大规模系统。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9016" y="1508760"/>
            <a:ext cx="3639312" cy="3246120"/>
          </a:xfrm>
          <a:prstGeom prst="roundRect">
            <a:avLst/>
          </a:prstGeom>
          <a:solidFill>
            <a:srgbClr val="E7F8F4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/>
            <a:r>
              <a:rPr sz="1900" b="1">
                <a:solidFill>
                  <a:srgbClr val="0F766E"/>
                </a:solidFill>
                <a:latin typeface="Microsoft YaHei"/>
              </a:rPr>
              <a:t>3) EP 折中方案：有效但仍有上限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450" b="0">
                <a:solidFill>
                  <a:srgbClr val="0F172A"/>
                </a:solidFill>
                <a:latin typeface="Microsoft YaHei"/>
              </a:rPr>
              <a:t>EP 通过矩匹配将复杂后验近似为高斯分布，并迭代求解。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450" b="0">
                <a:solidFill>
                  <a:srgbClr val="0F172A"/>
                </a:solidFill>
                <a:latin typeface="Microsoft YaHei"/>
              </a:rPr>
              <a:t>它在性能与复杂度之间提供了有吸引力的折中。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450" b="0">
                <a:solidFill>
                  <a:srgbClr val="0F172A"/>
                </a:solidFill>
                <a:latin typeface="Microsoft YaHei"/>
              </a:rPr>
              <a:t>但“独立高斯近似”忽略变量高阶相关性，强干扰场景下信息损失明显。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450" b="0">
                <a:solidFill>
                  <a:srgbClr val="0F172A"/>
                </a:solidFill>
                <a:latin typeface="Microsoft YaHei"/>
              </a:rPr>
              <a:t>高维条件下还存在数值稳定性与收敛性挑战。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983480"/>
            <a:ext cx="10972800" cy="1078992"/>
          </a:xfrm>
          <a:prstGeom prst="roundRect">
            <a:avLst/>
          </a:prstGeom>
          <a:solidFill>
            <a:srgbClr val="FDECEC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7536" bIns="9753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C2626"/>
                </a:solidFill>
                <a:latin typeface="Microsoft YaHei"/>
              </a:rPr>
              <a:t>科学问题凝练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C2626"/>
                </a:solidFill>
                <a:latin typeface="Microsoft YaHei"/>
              </a:rPr>
              <a:t>如何突破 EP 中独立高斯近似带来的性能上限，并在大规模 MU-MIMO 条件下继续保持近线性、可部署的检测复杂度？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8768" bIns="487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F172A"/>
                </a:solidFill>
                <a:latin typeface="Microsoft YaHe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研究进展、方法局限与本文切入点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64592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YaHei"/>
              </a:rPr>
              <a:t>组会汇报 |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13232"/>
            <a:ext cx="562356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0960" bIns="609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3153"/>
                </a:solidFill>
                <a:latin typeface="Microsoft YaHei"/>
              </a:rPr>
              <a:t>已有研究主线：从模型驱动深度展开，到 GNN 辅助概率推断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3716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8768" bIns="4876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深度展开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463040" cy="1325880"/>
          </a:xfrm>
          <a:prstGeom prst="roundRect">
            <a:avLst/>
          </a:prstGeom>
          <a:solidFill>
            <a:srgbClr val="EA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Microsoft YaHei"/>
              </a:rPr>
              <a:t>OAMP-Net2：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Microsoft YaHei"/>
              </a:rPr>
              <a:t>将迭代检测映射为多层网络，引入可学习参数，兼顾机理可解释性与检测精度。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84248" y="2487168"/>
            <a:ext cx="329184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23160" y="1325880"/>
            <a:ext cx="1371600" cy="4572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8768" bIns="4876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GNN + 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828800"/>
            <a:ext cx="1463040" cy="1325880"/>
          </a:xfrm>
          <a:prstGeom prst="roundRect">
            <a:avLst/>
          </a:prstGeom>
          <a:solidFill>
            <a:srgbClr val="E7F8F4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Microsoft YaHei"/>
              </a:rPr>
              <a:t>GEPNet / GCEPNet：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Microsoft YaHei"/>
              </a:rPr>
              <a:t>把图结构嵌入 EP 或腔分布估计，用图特征缓解独立高斯近似偏差。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04487" y="2487168"/>
            <a:ext cx="329185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1325880"/>
            <a:ext cx="1371600" cy="45720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8768" bIns="4876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图辅助 AMP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1463040" cy="1325880"/>
          </a:xfrm>
          <a:prstGeom prst="roundRect">
            <a:avLst/>
          </a:prstGeom>
          <a:solidFill>
            <a:srgbClr val="F3EEFF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Microsoft YaHei"/>
              </a:rPr>
              <a:t>GNN-Assisted BiG-AMP：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Microsoft YaHei"/>
              </a:rPr>
              <a:t>在消息传递循环中补偿边际似然近似误差，提升鲁棒性。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56432"/>
            <a:ext cx="5486400" cy="1691640"/>
          </a:xfrm>
          <a:prstGeom prst="roundRect">
            <a:avLst/>
          </a:prstGeom>
          <a:solidFill>
            <a:srgbClr val="FFF2E8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5344" bIns="8534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现有 GNN 方法的主要局限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A580C"/>
                </a:solidFill>
                <a:latin typeface="Microsoft YaHei"/>
              </a:rPr>
              <a:t>• 图卷积依赖局部邻域聚合，难以建模大规模 MIMO 中的长程空间依赖。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A580C"/>
                </a:solidFill>
                <a:latin typeface="Microsoft YaHei"/>
              </a:rPr>
              <a:t>• 网络加深后易出现过平滑，节点特征区分度下降。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A580C"/>
                </a:solidFill>
                <a:latin typeface="Microsoft YaHei"/>
              </a:rPr>
              <a:t>• 在大规模阵列下，图运算开销仍然偏高，限制工程部署。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713232"/>
            <a:ext cx="5440680" cy="411480"/>
          </a:xfrm>
          <a:prstGeom prst="roundRect">
            <a:avLst/>
          </a:prstGeom>
          <a:solidFill>
            <a:srgbClr val="EAF8EE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0960" bIns="609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3153"/>
                </a:solidFill>
                <a:latin typeface="Microsoft YaHei"/>
              </a:rPr>
              <a:t>本文切入点：引入 DIFFormer，增强全局依赖建模能力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25880"/>
            <a:ext cx="5349240" cy="2011680"/>
          </a:xfrm>
          <a:prstGeom prst="roundRect">
            <a:avLst/>
          </a:prstGeom>
          <a:solidFill>
            <a:srgbClr val="EAF8EE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5344" bIns="8534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803D"/>
                </a:solidFill>
                <a:latin typeface="Microsoft YaHei"/>
              </a:rPr>
              <a:t>DIFFormer 的关键优势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5803D"/>
                </a:solidFill>
                <a:latin typeface="Microsoft YaHei"/>
              </a:rPr>
              <a:t>1. 通过最小化表征全局一致性的能量函数，构造扩散诱导注意力。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5803D"/>
                </a:solidFill>
                <a:latin typeface="Microsoft YaHei"/>
              </a:rPr>
              <a:t>2. 不受限于固定局部邻域，可在任意节点对之间动态传播信息。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5803D"/>
                </a:solidFill>
                <a:latin typeface="Microsoft YaHei"/>
              </a:rPr>
              <a:t>3. 以近线性复杂度聚合全局干扰特征，兼顾表达力与可扩展性。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5803D"/>
                </a:solidFill>
                <a:latin typeface="Microsoft YaHei"/>
              </a:rPr>
              <a:t>4. 通过解耦局部结构与全局交互，缓解传统深层 GNN 的过平滑问题。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11880"/>
            <a:ext cx="5349240" cy="1536192"/>
          </a:xfrm>
          <a:prstGeom prst="roundRect">
            <a:avLst/>
          </a:prstGeom>
          <a:solidFill>
            <a:srgbClr val="FDECEC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5344" bIns="8534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DC2626"/>
                </a:solidFill>
                <a:latin typeface="Microsoft YaHei"/>
              </a:rPr>
              <a:t>拟议框架：D-EPNet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DC2626"/>
                </a:solidFill>
                <a:latin typeface="Microsoft YaHei"/>
              </a:rPr>
              <a:t>将 DIFFormer 深度嵌入 EP 的迭代推断骨架，用全局扩散能力动态修正腔分布估计偏差，从数学本质上突破独立高斯近似的限制，为 6G 高性能检测提供新方案。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72784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Microsoft YaHei"/>
              </a:rPr>
              <a:t>参考文献索引：[1] GEPNet  [2] GCEPNet  [3] He 等模型驱动深度学习  [4] Scotti 等 GNN-MRF 检测  [5] GNN-Assisted BiG-AMP  [6] DIFFormer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